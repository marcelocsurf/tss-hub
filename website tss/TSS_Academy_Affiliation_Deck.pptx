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097280"/>
            <a:ext cx="2743200" cy="0"/>
          </a:xfrm>
          <a:prstGeom prst="line">
            <a:avLst/>
          </a:prstGeom>
          <a:noFill/>
          <a:ln w="25400">
            <a:solidFill>
              <a:srgbClr val="5AC3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SURF SEQUENCE®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Afiliación para Academias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651760"/>
            <a:ext cx="1828800" cy="0"/>
          </a:xfrm>
          <a:prstGeom prst="line">
            <a:avLst/>
          </a:prstGeom>
          <a:noFill/>
          <a:ln w="12700">
            <a:solidFill>
              <a:srgbClr val="0D2D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el estándar global de educación en surf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C3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Evolve through play.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thesurfsequence.com  |  contacto@thesurfsequence.com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todas las academias de surf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parecen iguales?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749040" cy="685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" cy="6858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922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diferenciación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0665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ofrecen "clases con instructores certificados". No hay forma de distinguirse.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749040" cy="685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514600"/>
            <a:ext cx="54864" cy="6858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69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del coach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8437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coach se va, la calidad cae. El valor está en la persona, no en el sistema.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749040" cy="685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91840"/>
            <a:ext cx="54864" cy="6858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467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retención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6210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alumno viene, toma una clase, se va. No hay progresión visible ni razón para volver.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749040" cy="685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069080"/>
            <a:ext cx="54864" cy="6858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23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evaluación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982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forma de medir si el alumno mejoró. No hay datos, no hay métricas.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1737360"/>
            <a:ext cx="3749040" cy="3108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5AC3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35M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493776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surfistas en el mundo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2004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493776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globales de enseñanza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C3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 ahora.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Surf Sequence®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sistema integral de educación en surf del mundo.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920240" cy="1005840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AC3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progresión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1737360"/>
            <a:ext cx="1920240" cy="1005840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AC3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4+1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060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1920240" cy="1005840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AC3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catalogadas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20840" y="1737360"/>
            <a:ext cx="1920240" cy="1005840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AC3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208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certificación</a:t>
            </a:r>
            <a:endParaRPr lang="en-US" sz="9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06324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7280" y="3017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9728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Secuencias de ejecución catalogadas por nivel</a:t>
            </a:r>
            <a:endParaRPr lang="en-US" sz="8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06324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154680" y="3017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Táctico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15468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oceánica y posicionamiento inteligente</a:t>
            </a:r>
            <a:endParaRPr lang="en-US" sz="8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632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12080" y="3017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21208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bajo presión y resiliencia</a:t>
            </a:r>
            <a:endParaRPr lang="en-US" sz="8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06324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69480" y="3017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Físico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26948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funcional específica por cinta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548640" y="3840480"/>
            <a:ext cx="8046720" cy="411480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30" name="Text 24"/>
          <p:cNvSpPr/>
          <p:nvPr/>
        </p:nvSpPr>
        <p:spPr>
          <a:xfrm>
            <a:off x="731520" y="3886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Capa de Seguridad transversal: las condiciones del océano siempre mandan.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olímpica: París 2024  |  Campaña clasificatoria LA 2028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TSS aporta a tu academia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8229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22960"/>
          </a:xfrm>
          <a:prstGeom prst="rect">
            <a:avLst/>
          </a:prstGeom>
          <a:solidFill>
            <a:srgbClr val="5AC3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447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estandarizada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" y="17373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completo por nivel. Cada coach enseña lo mismo con la misma calidad.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3794760" cy="8229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286000"/>
            <a:ext cx="54864" cy="822960"/>
          </a:xfrm>
          <a:prstGeom prst="rect">
            <a:avLst/>
          </a:prstGeom>
          <a:solidFill>
            <a:srgbClr val="5AC3E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688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certificados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43000" y="26517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equipo se certifica en TSS (L1-L5). Certificación con requisitos reales.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3794760" cy="8229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200400"/>
            <a:ext cx="54864" cy="822960"/>
          </a:xfrm>
          <a:prstGeom prst="rect">
            <a:avLst/>
          </a:prstGeom>
          <a:solidFill>
            <a:srgbClr val="5AC3E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832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digital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43000" y="35661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TSS Brain: tracking de alumnos, gestión de sesiones, reportes automáticos.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754880" y="1371600"/>
            <a:ext cx="3794760" cy="8229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1371600"/>
            <a:ext cx="54864" cy="822960"/>
          </a:xfrm>
          <a:prstGeom prst="rect">
            <a:avLst/>
          </a:prstGeom>
          <a:solidFill>
            <a:srgbClr val="5AC3E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14447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Retención por sistema de cintas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349240" y="17373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alumno tiene razón para volver: su próxima cinta. Mayor ticket promedio.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754880" y="2286000"/>
            <a:ext cx="3794760" cy="8229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2286000"/>
            <a:ext cx="54864" cy="822960"/>
          </a:xfrm>
          <a:prstGeom prst="rect">
            <a:avLst/>
          </a:prstGeom>
          <a:solidFill>
            <a:srgbClr val="5AC3E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4688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Diferenciación real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349240" y="26517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única academia en tu zona con estándar global y validación olímpica.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754880" y="3200400"/>
            <a:ext cx="3794760" cy="8229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200400"/>
            <a:ext cx="54864" cy="822960"/>
          </a:xfrm>
          <a:prstGeom prst="rect">
            <a:avLst/>
          </a:prstGeom>
          <a:solidFill>
            <a:srgbClr val="5AC3E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832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4924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global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349240" y="35661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alumnos continúan su progresión en cualquier punto de la red TSS.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Tres niveles de colaboración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5AC3E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Certificación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Individual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C3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$500-$1,500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nivel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34640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2816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Certificación L1-L5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9067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30723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Manuales y herramientas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46704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6112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Renovación anual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02736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6112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Directorio TSS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3291840" y="12801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291840" y="1280160"/>
            <a:ext cx="2651760" cy="54864"/>
          </a:xfrm>
          <a:prstGeom prst="rect">
            <a:avLst/>
          </a:prstGeom>
          <a:solidFill>
            <a:srgbClr val="5AC3E7"/>
          </a:solidFill>
          <a:ln/>
        </p:spPr>
      </p:sp>
      <p:sp>
        <p:nvSpPr>
          <p:cNvPr id="20" name="Text 14"/>
          <p:cNvSpPr/>
          <p:nvPr/>
        </p:nvSpPr>
        <p:spPr>
          <a:xfrm>
            <a:off x="347472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347472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Afiliación 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47472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C3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$1K-$3K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347472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año</a:t>
            </a:r>
            <a:endParaRPr lang="en-US" sz="9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834640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30752" y="2816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de Tier 1</a:t>
            </a:r>
            <a:endParaRPr lang="en-US" sz="9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3090672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730752" y="30723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 de marca TSS</a:t>
            </a:r>
            <a:endParaRPr lang="en-US" sz="9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346704"/>
            <a:ext cx="164592" cy="16459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730752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Certificación de equipo</a:t>
            </a:r>
            <a:endParaRPr lang="en-US" sz="9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602736"/>
            <a:ext cx="164592" cy="16459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730752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TSS Brain ($100/mes)</a:t>
            </a:r>
            <a:endParaRPr lang="en-US" sz="9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858768"/>
            <a:ext cx="164592" cy="16459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730752" y="3840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implementación</a:t>
            </a:r>
            <a:endParaRPr lang="en-US" sz="950" dirty="0"/>
          </a:p>
        </p:txBody>
      </p:sp>
      <p:sp>
        <p:nvSpPr>
          <p:cNvPr id="34" name="Shape 23"/>
          <p:cNvSpPr/>
          <p:nvPr/>
        </p:nvSpPr>
        <p:spPr>
          <a:xfrm>
            <a:off x="6126480" y="12801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6126480" y="1280160"/>
            <a:ext cx="265176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6" name="Text 25"/>
          <p:cNvSpPr/>
          <p:nvPr/>
        </p:nvSpPr>
        <p:spPr>
          <a:xfrm>
            <a:off x="630936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630936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Licencia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630936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5-15%</a:t>
            </a:r>
            <a:endParaRPr lang="en-US" sz="2200" dirty="0"/>
          </a:p>
        </p:txBody>
      </p:sp>
      <p:sp>
        <p:nvSpPr>
          <p:cNvPr id="39" name="Text 28"/>
          <p:cNvSpPr/>
          <p:nvPr/>
        </p:nvSpPr>
        <p:spPr>
          <a:xfrm>
            <a:off x="630936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royalty neto</a:t>
            </a:r>
            <a:endParaRPr lang="en-US" sz="9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2834640"/>
            <a:ext cx="164592" cy="16459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565392" y="2816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de Tier 2</a:t>
            </a:r>
            <a:endParaRPr lang="en-US" sz="95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3090672"/>
            <a:ext cx="164592" cy="164592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6565392" y="30723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Exclusividad territorial</a:t>
            </a:r>
            <a:endParaRPr lang="en-US" sz="950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60" y="3346704"/>
            <a:ext cx="164592" cy="164592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6565392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Co-branding con TSS</a:t>
            </a:r>
            <a:endParaRPr lang="en-US" sz="95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60" y="3602736"/>
            <a:ext cx="164592" cy="164592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6565392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directo a Marcelo</a:t>
            </a:r>
            <a:endParaRPr lang="en-US" sz="95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9360" y="3858768"/>
            <a:ext cx="164592" cy="164592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6565392" y="3840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expansión global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ingresos a 3 años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47472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08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Certificación de coaches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926080" y="1408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$500-$1,500/nivel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773936"/>
            <a:ext cx="3840480" cy="347472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Renovación anual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0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$200-$500/coach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176272"/>
            <a:ext cx="3840480" cy="347472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Afiliación academia (Tier 2)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0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$1K-$3K/año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578608"/>
            <a:ext cx="3840480" cy="347472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15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Royalties premium (Tier 3)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615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5-15% ventas netas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980944"/>
            <a:ext cx="3840480" cy="347472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 Kit Fee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2608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$100/persona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840480" cy="347472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19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TSS Brain SaaS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0" y="3419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$100/mes/academia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1371600"/>
            <a:ext cx="1280160" cy="3017520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937760" y="2176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37760" y="2770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$62K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937760" y="36576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55080" y="1371600"/>
            <a:ext cx="1280160" cy="3017520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55080" y="2176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508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55080" y="2770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5508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$182K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355080" y="36576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772400" y="1371600"/>
            <a:ext cx="1280160" cy="3017520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772400" y="2176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7240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772400" y="2770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77240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$397K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7772400" y="36576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conservador basado en Business Model Blueprint v2.0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REFERENCIA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Puro Surf: el operador flagship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Puro Surf Performance Academy en El Zonte, El Salvador, es donde TSS nació, se valida y se perfecciona. Es la prueba viva de que el sistema funciona a escala operativa real.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92024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AC3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operando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2286000"/>
            <a:ext cx="192024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AC3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experto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286000"/>
            <a:ext cx="192024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AC3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olímpica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2286000"/>
            <a:ext cx="192024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AC3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2084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cintas activas</a:t>
            </a:r>
            <a:endParaRPr lang="en-US" sz="9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52044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51560" y="35021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retención de alumnos por sistema de progresión visible</a:t>
            </a:r>
            <a:endParaRPr lang="en-US" sz="10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13048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51560" y="3794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Diferenciación clara frente a competencia local e internacional</a:t>
            </a:r>
            <a:endParaRPr lang="en-US" sz="10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05656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1560" y="40873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coaches alineado bajo una misma metodología</a:t>
            </a:r>
            <a:endParaRPr lang="en-US" sz="10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98264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437997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olímpica del sistema (París 2024, LA 2028)</a:t>
            </a:r>
            <a:endParaRPr lang="en-US" sz="10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90872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46725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digital para tracking y gestión de sesiones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 COMPETITIVA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barreras de entrada que nadie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puede replicar fácilmente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solidFill>
            <a:srgbClr val="0D1F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protegida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80160" y="1874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propiedad intelectual controlada por Enkrateia. No depende de terceros.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2267712"/>
            <a:ext cx="8046720" cy="640080"/>
          </a:xfrm>
          <a:prstGeom prst="rect">
            <a:avLst/>
          </a:prstGeom>
          <a:solidFill>
            <a:srgbClr val="0D1F3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0487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olímpica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80160" y="2587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usada en preparación olímpica (París 2024, LA 2028). Credenciales reales.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2980944"/>
            <a:ext cx="8046720" cy="640080"/>
          </a:xfrm>
          <a:prstGeom prst="rect">
            <a:avLst/>
          </a:prstGeom>
          <a:solidFill>
            <a:srgbClr val="0D1F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18104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026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integrado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280160" y="33009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+ certificación + red + plataforma. No hay sustituto de componente único.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48640" y="3694176"/>
            <a:ext cx="8046720" cy="640080"/>
          </a:xfrm>
          <a:prstGeom prst="rect">
            <a:avLst/>
          </a:prstGeom>
          <a:solidFill>
            <a:srgbClr val="0D1F3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3133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739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Efecto de red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80160" y="40142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academia y coach que se suma incrementa el valor para todos los demás.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48640" y="4407408"/>
            <a:ext cx="8046720" cy="640080"/>
          </a:xfrm>
          <a:prstGeom prst="rect">
            <a:avLst/>
          </a:prstGeom>
          <a:solidFill>
            <a:srgbClr val="0D1F3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54456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4453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280160" y="47274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incumbente en estandarización de educación en surf. TSS es primero.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Marcelo Castellanos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olímpico ISA  |  Arquitecto de sistemas  |  Formador de formadores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926080" cy="29260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FOTO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MARCELO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645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 años formando surfistas de todos los niveles — desde turistas en su primera ola hasta atletas olímpicos. Certificación ISA al máximo nivel.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560320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0" y="2542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ISA Nivel Experto (máxima certificación)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83464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2816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Preparador olímpico París 2024 + LA 2028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10896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14800" y="30906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 de Puro Surf Performance Academy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38328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14800" y="3364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Creador de TSS — 100% IP propia (Enkrateia)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657600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114800" y="3639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Creador de Compartiendo Olas (impacto social)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3840480" y="3840480"/>
            <a:ext cx="484632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2"/>
          <p:cNvSpPr/>
          <p:nvPr/>
        </p:nvSpPr>
        <p:spPr>
          <a:xfrm>
            <a:off x="402336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C3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 que PADI hizo por el buceo, TSS lo hará por el surf."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023360" y="422452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Marcelo Castellanos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0"/>
          </a:xfrm>
          <a:prstGeom prst="line">
            <a:avLst/>
          </a:prstGeom>
          <a:noFill/>
          <a:ln w="25400">
            <a:solidFill>
              <a:srgbClr val="5AC3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¿Listo para diferenciar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academia?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paso: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2743200"/>
            <a:ext cx="4572000" cy="411480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2816352"/>
            <a:ext cx="274320" cy="274320"/>
          </a:xfrm>
          <a:prstGeom prst="ellipse">
            <a:avLst/>
          </a:prstGeom>
          <a:solidFill>
            <a:srgbClr val="5AC3E7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2807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 tu operación actual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3218688"/>
            <a:ext cx="4572000" cy="411480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3291840"/>
            <a:ext cx="274320" cy="274320"/>
          </a:xfrm>
          <a:prstGeom prst="ellipse">
            <a:avLst/>
          </a:prstGeom>
          <a:solidFill>
            <a:srgbClr val="5AC3E7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3282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del modelo de afiliación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3694176"/>
            <a:ext cx="4572000" cy="411480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3767328"/>
            <a:ext cx="274320" cy="274320"/>
          </a:xfrm>
          <a:prstGeom prst="ellipse">
            <a:avLst/>
          </a:prstGeom>
          <a:solidFill>
            <a:srgbClr val="5AC3E7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758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Certificación de tu equipo de coaches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4169664"/>
            <a:ext cx="4572000" cy="411480"/>
          </a:xfrm>
          <a:prstGeom prst="rect">
            <a:avLst/>
          </a:prstGeom>
          <a:solidFill>
            <a:srgbClr val="0D1F3A"/>
          </a:solidFill>
          <a:ln/>
        </p:spPr>
      </p:sp>
      <p:sp>
        <p:nvSpPr>
          <p:cNvPr id="18" name="Shape 16"/>
          <p:cNvSpPr/>
          <p:nvPr/>
        </p:nvSpPr>
        <p:spPr>
          <a:xfrm>
            <a:off x="2468880" y="4242816"/>
            <a:ext cx="274320" cy="274320"/>
          </a:xfrm>
          <a:prstGeom prst="ellipse">
            <a:avLst/>
          </a:prstGeom>
          <a:solidFill>
            <a:srgbClr val="5AC3E7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4233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de TSS en tu academia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contacto@thesurfsequence.com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thesurfsequence.com  |  @thesurfsequence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C3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Evolve through play.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TSS Academy Affiliation — Presentation Deck</dc:title>
  <dc:subject>PptxGenJS Presentation</dc:subject>
  <dc:creator>The Surf Sequence® / Enkrateia</dc:creator>
  <cp:lastModifiedBy>The Surf Sequence® / Enkrateia</cp:lastModifiedBy>
  <cp:revision>1</cp:revision>
  <dcterms:created xsi:type="dcterms:W3CDTF">2026-03-20T00:37:11Z</dcterms:created>
  <dcterms:modified xsi:type="dcterms:W3CDTF">2026-03-20T00:37:11Z</dcterms:modified>
</cp:coreProperties>
</file>